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344360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Cauê (abertura). Uns 10 segundos aqui: diga o nome do projeto e passe para o próximo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Cauê, abertura: 0:50 somando a capa. Imagine o gestor de plantão do Centro de Operações da Neoenergia numa noite de chuva. Chegam chamados de vários municípios ao mesmo tempo, e ele tem uma equipe livre. Para onde ele manda essa equipe? O que está acontecendo agora ele já vê em tempo real. O que falta é a memória organizada: onde isso costuma acontecer, em que época, por qual motivo e onde o atendimento demora. E essa memória serve para mais uma coisa: agir antes, para a crise nem começar. A gente analisou 852 mil ocorrências emergenciais em Pernambuco, de 2021 a 2025, todas com interrupção de energia registrada. Mais de 460 por dia. Organizamos tudo em cinco perguntas. Começando por onde.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Rhayane, 1:20. Onde. Em volume, Recife está muito à frente: são 99 mil ocorrências em cinco anos, mais que o dobro de Jaboatão, que vem em segundo. Depois aparecem Petrolina, Caruaru e Olinda. Até aqui, nada surpreendente: onde tem mais gente e mais rede, tem mais ocorrência. Mas município não é a única forma de olhar. A ANEEL agrupa os consumidores em conjuntos elétricos para medir a qualidade do fornecimento, e um conjunto pode cobrir vários municípios. Quando a gente olha por conjunto, o topo muda: Lajedo, Vitória de Santo Antão e São Benedito. Nenhum é em Recife. Tem pedaço da rede fora da capital que dá tanto trabalho quanto ela. Para quem planeja manutenção, essa é a lista de onde olhar primeiro. Agora, quando isso acontece?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Amanda, 1:20 nos slides 4 e 5. Quando. Ao longo do ano, o pico é em março, com 96 mil interrupções, e o vale é setembro, com 75 mil. Quase 30% de diferença. E o motivo muda com o mês: em março, a causa que mais aparece é meio ambiente, como vento, raio e árvore. Em outubro, a liderança passa para problemas da própria rede.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Amanda. Ao longo do dia, o padrão é bem claro. As interrupções sobem a partir das 5h e o pico fica entre 7h e 11h, com o máximo às 9h. De madrugada, o volume cai para um décimo disso. Para quem planeja, isso diz em que meses reforçar a escala, em que horário a demanda aperta e qual é uma boa janela para manutenção: o vale de setembro. Mas por que essas ocorrências acontecem?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Renato, 1:20. Por quê. Três grupos explicam 95% das ocorrências: problemas da própria rede, com 38%; meio ambiente, com 35%; e terceiros, com 23%. A causa campeã é falha de material ou equipamento: 270 mil ocorrências, um terço de tudo. Depois vêm vento, árvore ou vegetação e interferência de terceiros. Só que a causa mais frequente não é a que mais demora. Nesse gráfico, quanto mais à direita, mais vezes a causa aparece; quanto mais alto, mais tempo leva um atendimento típico. Falha de equipamento é muito frequente, mas fica perto do tempo do estado. Vento, árvore e descarga atmosférica juntam muito volume com atendimento mais longo: de 5 a 6 horas. E lá em cima ficam as raras e demoradas: erosão, com 32 horas, e abalroamento, que é batida de veículo na rede, com 22 horas. Para a manutenção, isso separa duas frentes: atacar o que é frequente, como equipamento e poda, e se preparar para o que é raro, mas quando acontece leva mais de um dia. E quanto tempo leva, no fim, um atendimento?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Danilo, 1:40 nos slides 7 a 9. Quanto tempo. Um atendimento típico leva cerca de 4 horas e meia, do chamado até a energia voltar. Típico aqui é a mediana: metade dos atendimentos leva menos que isso. O tempo tem três etapas. O preparo vai do chamado até a equipe ser liberada, e sozinho é metade de todo o tempo. Também foi o que mais cresceu: 17,5% em cinco anos. O deslocamento é curto, cerca de meia hora.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Danilo. E onde demora mais? Não é em Recife. Os piores tempos estão no interior: Arcoverde, Santa Filomena, Tupanatinga. Lá, o atendimento típico passa de 7 horas e meia, bem acima das 4h30 do estado. Onde acontece mais não é onde demora mais.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Danilo. E o clima? Cruzamos as ocorrências de causa climática, como vento, raio e queda de árvore, com a chuva medida pelo INMET naquele dia, na estação mais próxima. Nesses dias, choveu em média 3,4 milímetros, quase o dobro da média geral, de 1,8. O vento quase não muda. O pico dessas ocorrências também é março, e Petrolina é o município que mais aparece. Um cuidado: isso é relação, não causa. E só deu para cruzar 69% dessas ocorrências com uma estação a até 50 quilômetros.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Nilda, 1:50 com a demonstração. Tudo o que vocês viram até aqui está num painel no Looker. A ideia é que o gestor de plantão abra e, em poucos cliques, tenha as cinco respostas para o lugar que importa naquele momento. Aqui está o resumo de Pernambuco. Vou fazer o que o gestor faria: filtrar um município. Vamos pegar Petrolina, que apareceu em várias das nossas respostas. (Mostrar onde, quando, por quê e quanto tempo para Petrolina, lendo os números da tela.) Em menos de um minuto, o gestor sabe, para Petrolina, quando costuma apertar, por qual motivo e quanto tempo um atendimento costuma levar. E quem planeja a manutenção vê onde e quando vale agir antes do pico. Não é previsão: é o histórico organizado para apoiar a decisão. Se a internet falhar, usar o vídeo gravado da demonstração.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Cauê, fechamento: 1:00 nos slides 11 e 12. Voltando à noite de chuva do começo. A gente não consegue dizer quando vai ser a próxima crise, e não está prometendo isso. Mas o histórico já diz onde agir antes. Nos conjuntos com mais ocorrências, inspeção e manutenção primeiro. Em setembro, que é o vale, fazer a preventiva; em março e no começo da manhã, reforçar a escala. Antes das chuvas, inspecionar equipamentos e podar a vegetação. E onde o preparo e o deslocamento pesam, pensar em equipes de prontidão. São sugestões tiradas do histórico, que ainda precisam ser testadas na operação.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Cauê. O próximo passo é testar o painel com quem está no plantão e medir se o tempo de restabelecimento cai nas áreas priorizadas. A Bússola de Crise não prevê a próxima crise. Ela mostra onde agir antes. Obrigado.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1102361"/>
            <a:ext cx="1056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600" dirty="0">
                <a:solidFill>
                  <a:srgbClr val="14213D"/>
                </a:solidFill>
                <a:latin typeface="Oswald" pitchFamily="34" charset="0"/>
                <a:ea typeface="Oswald" pitchFamily="34" charset="-122"/>
                <a:cs typeface="Oswald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6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1910081"/>
            <a:ext cx="10566400" cy="41351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1102361"/>
            <a:ext cx="1056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600" dirty="0">
                <a:solidFill>
                  <a:srgbClr val="14213D"/>
                </a:solidFill>
                <a:latin typeface="Oswald" pitchFamily="34" charset="0"/>
                <a:ea typeface="Oswald" pitchFamily="34" charset="-122"/>
                <a:cs typeface="Oswald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6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1910081"/>
            <a:ext cx="10566400" cy="41351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ellipse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823200" y="1270000"/>
            <a:ext cx="3556000" cy="3556000"/>
          </a:xfrm>
          <a:prstGeom prst="rect">
            <a:avLst/>
          </a:prstGeom>
        </p:spPr>
      </p:pic>
      <p:pic>
        <p:nvPicPr>
          <p:cNvPr id="3" name="Image 1" descr="ellipse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585200" y="2032000"/>
            <a:ext cx="2032000" cy="2032000"/>
          </a:xfrm>
          <a:prstGeom prst="rect">
            <a:avLst/>
          </a:prstGeom>
        </p:spPr>
      </p:pic>
      <p:pic>
        <p:nvPicPr>
          <p:cNvPr id="4" name="Image 2" descr="diamond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 rot="2100000">
            <a:off x="9448800" y="2222500"/>
            <a:ext cx="304800" cy="1651000"/>
          </a:xfrm>
          <a:prstGeom prst="rect">
            <a:avLst/>
          </a:prstGeom>
        </p:spPr>
      </p:pic>
      <p:pic>
        <p:nvPicPr>
          <p:cNvPr id="5" name="Image 3" descr="line"/>
          <p:cNvPicPr>
            <a:picLocks noChangeAspect="1"/>
          </p:cNvPicPr>
          <p:nvPr/>
        </p:nvPicPr>
        <p:blipFill>
          <a:blip r:embed="rId6"/>
          <a:srcRect l="-12500" r="-12500"/>
          <a:stretch/>
        </p:blipFill>
        <p:spPr>
          <a:xfrm>
            <a:off x="812800" y="5380037"/>
            <a:ext cx="10566400" cy="10160"/>
          </a:xfrm>
          <a:prstGeom prst="rect">
            <a:avLst/>
          </a:prstGeom>
        </p:spPr>
      </p:pic>
      <p:pic>
        <p:nvPicPr>
          <p:cNvPr id="6" name="Image 4" descr="Logo CESAR School"/>
          <p:cNvPicPr>
            <a:picLocks noChangeAspect="1"/>
          </p:cNvPicPr>
          <p:nvPr/>
        </p:nvPicPr>
        <p:blipFill>
          <a:blip r:embed="rId7"/>
          <a:srcRect l="-23" r="-23"/>
          <a:stretch/>
        </p:blipFill>
        <p:spPr>
          <a:xfrm>
            <a:off x="3764915" y="673021"/>
            <a:ext cx="850900" cy="762000"/>
          </a:xfrm>
          <a:prstGeom prst="rect">
            <a:avLst/>
          </a:prstGeom>
        </p:spPr>
      </p:pic>
      <p:pic>
        <p:nvPicPr>
          <p:cNvPr id="7" name="Image 5" descr="Logo Neoenergia"/>
          <p:cNvPicPr>
            <a:picLocks noChangeAspect="1"/>
          </p:cNvPicPr>
          <p:nvPr/>
        </p:nvPicPr>
        <p:blipFill>
          <a:blip r:embed="rId8"/>
          <a:srcRect t="-12" b="-12"/>
          <a:stretch/>
        </p:blipFill>
        <p:spPr>
          <a:xfrm>
            <a:off x="434896" y="812800"/>
            <a:ext cx="2368550" cy="482600"/>
          </a:xfrm>
          <a:prstGeom prst="rect">
            <a:avLst/>
          </a:prstGeom>
        </p:spPr>
      </p:pic>
      <p:sp>
        <p:nvSpPr>
          <p:cNvPr id="8" name="Text 0"/>
          <p:cNvSpPr/>
          <p:nvPr/>
        </p:nvSpPr>
        <p:spPr>
          <a:xfrm>
            <a:off x="6662992" y="5797550"/>
            <a:ext cx="4716208" cy="2719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942"/>
              </a:lnSpc>
              <a:buNone/>
            </a:pPr>
            <a:r>
              <a:rPr lang="en-US" sz="1387" dirty="0">
                <a:solidFill>
                  <a:srgbClr val="C9D3E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Amanda · Cauê · Danilo · Nilda · Renato · Rhayane</a:t>
            </a:r>
            <a:endParaRPr lang="en-US" sz="1387" dirty="0"/>
          </a:p>
        </p:txBody>
      </p:sp>
      <p:sp>
        <p:nvSpPr>
          <p:cNvPr id="9" name="Text 1"/>
          <p:cNvSpPr>
            <a:spLocks noGrp="1"/>
          </p:cNvSpPr>
          <p:nvPr>
            <p:ph type="title"/>
          </p:nvPr>
        </p:nvSpPr>
        <p:spPr>
          <a:xfrm>
            <a:off x="434856" y="4064000"/>
            <a:ext cx="12432918" cy="9587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7350"/>
              </a:lnSpc>
              <a:buNone/>
            </a:pPr>
            <a:r>
              <a:rPr lang="en-US" sz="7000" b="0" i="0" dirty="0">
                <a:solidFill>
                  <a:srgbClr val="F6F4EE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Bússola de Crise</a:t>
            </a:r>
            <a:endParaRPr lang="en-US" sz="7000" dirty="0"/>
          </a:p>
        </p:txBody>
      </p:sp>
      <p:pic>
        <p:nvPicPr>
          <p:cNvPr id="10" name="Image 6" descr="line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0" y="5387005"/>
            <a:ext cx="762000" cy="38100"/>
          </a:xfrm>
          <a:prstGeom prst="rect">
            <a:avLst/>
          </a:prstGeom>
        </p:spPr>
      </p:pic>
      <p:sp>
        <p:nvSpPr>
          <p:cNvPr id="11" name="Text 2"/>
          <p:cNvSpPr/>
          <p:nvPr/>
        </p:nvSpPr>
        <p:spPr>
          <a:xfrm>
            <a:off x="434896" y="5581888"/>
            <a:ext cx="5961584" cy="7109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000" dirty="0">
                <a:solidFill>
                  <a:srgbClr val="C9D3E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Onde, quando e por que as crises de energia se concentram em Pernambuco</a:t>
            </a:r>
            <a:endParaRPr lang="en-US" sz="2000" dirty="0"/>
          </a:p>
        </p:txBody>
      </p:sp>
      <p:sp>
        <p:nvSpPr>
          <p:cNvPr id="12" name="Text 3"/>
          <p:cNvSpPr/>
          <p:nvPr/>
        </p:nvSpPr>
        <p:spPr>
          <a:xfrm>
            <a:off x="7449027" y="6048363"/>
            <a:ext cx="4885263" cy="2719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21"/>
              </a:lnSpc>
              <a:buNone/>
            </a:pPr>
            <a:r>
              <a:rPr lang="en-US" sz="1229" b="1" dirty="0">
                <a:solidFill>
                  <a:srgbClr val="F6F4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NExT Dados 2026.1 · CESAR School</a:t>
            </a:r>
            <a:endParaRPr lang="en-US" sz="1229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9A58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 PROBLEMA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02360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0" i="0" dirty="0">
                <a:solidFill>
                  <a:srgbClr val="14213D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Na crise, a decisão é tomada sem o histórico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2476500"/>
            <a:ext cx="5232400" cy="1422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1000"/>
              </a:lnSpc>
              <a:buNone/>
            </a:pPr>
            <a:r>
              <a:rPr lang="en-US" sz="11000" dirty="0">
                <a:solidFill>
                  <a:srgbClr val="14213D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467</a:t>
            </a:r>
            <a:endParaRPr lang="en-US" sz="11000" dirty="0"/>
          </a:p>
        </p:txBody>
      </p:sp>
      <p:sp>
        <p:nvSpPr>
          <p:cNvPr id="5" name="Text 3"/>
          <p:cNvSpPr/>
          <p:nvPr/>
        </p:nvSpPr>
        <p:spPr>
          <a:xfrm>
            <a:off x="812800" y="3924300"/>
            <a:ext cx="5486400" cy="619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40"/>
              </a:lnSpc>
              <a:buNone/>
            </a:pPr>
            <a:r>
              <a:rPr lang="pt-BR" sz="18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ocorrências com </a:t>
            </a:r>
            <a:r>
              <a:rPr lang="pt-BR" sz="1800" b="1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interrupções</a:t>
            </a:r>
            <a:r>
              <a:rPr lang="pt-BR" sz="18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por dia em Pernambuco</a:t>
            </a:r>
            <a:endParaRPr lang="pt-BR" sz="1800" dirty="0"/>
          </a:p>
        </p:txBody>
      </p:sp>
      <p:sp>
        <p:nvSpPr>
          <p:cNvPr id="6" name="Shape 4"/>
          <p:cNvSpPr/>
          <p:nvPr/>
        </p:nvSpPr>
        <p:spPr>
          <a:xfrm>
            <a:off x="6299200" y="2553970"/>
            <a:ext cx="5080000" cy="1887220"/>
          </a:xfrm>
          <a:prstGeom prst="roundRect">
            <a:avLst>
              <a:gd name="adj" fmla="val 8075"/>
            </a:avLst>
          </a:prstGeom>
          <a:solidFill>
            <a:srgbClr val="14213D"/>
          </a:solidFill>
          <a:ln/>
        </p:spPr>
      </p:sp>
      <p:sp>
        <p:nvSpPr>
          <p:cNvPr id="7" name="Text 5"/>
          <p:cNvSpPr/>
          <p:nvPr/>
        </p:nvSpPr>
        <p:spPr>
          <a:xfrm>
            <a:off x="6654800" y="2909570"/>
            <a:ext cx="4499864" cy="843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220"/>
              </a:lnSpc>
              <a:buNone/>
            </a:pPr>
            <a:r>
              <a:rPr lang="en-US" sz="2800" dirty="0">
                <a:solidFill>
                  <a:srgbClr val="F6F4EE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Para onde mando a próxima equipe?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6654800" y="3854450"/>
            <a:ext cx="4499864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F2A54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Gestor de plantão, Centro de Operações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12800" y="5389880"/>
            <a:ext cx="1045289" cy="452120"/>
          </a:xfrm>
          <a:prstGeom prst="roundRect">
            <a:avLst>
              <a:gd name="adj" fmla="val 50000"/>
            </a:avLst>
          </a:prstGeom>
          <a:solidFill>
            <a:srgbClr val="E6E2D6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1. Onde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010489" y="5389880"/>
            <a:ext cx="1250077" cy="452120"/>
          </a:xfrm>
          <a:prstGeom prst="roundRect">
            <a:avLst>
              <a:gd name="adj" fmla="val 50000"/>
            </a:avLst>
          </a:prstGeom>
          <a:solidFill>
            <a:srgbClr val="E6E2D6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2. Quando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412966" y="5389880"/>
            <a:ext cx="1241028" cy="452120"/>
          </a:xfrm>
          <a:prstGeom prst="roundRect">
            <a:avLst>
              <a:gd name="adj" fmla="val 50000"/>
            </a:avLst>
          </a:prstGeom>
          <a:solidFill>
            <a:srgbClr val="E6E2D6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3. Por quê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06395" y="5389880"/>
            <a:ext cx="1780858" cy="452120"/>
          </a:xfrm>
          <a:prstGeom prst="roundRect">
            <a:avLst>
              <a:gd name="adj" fmla="val 50000"/>
            </a:avLst>
          </a:prstGeom>
          <a:solidFill>
            <a:srgbClr val="E6E2D6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4. Quanto tempo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739652" y="5389880"/>
            <a:ext cx="1080849" cy="452120"/>
          </a:xfrm>
          <a:prstGeom prst="roundRect">
            <a:avLst>
              <a:gd name="adj" fmla="val 50000"/>
            </a:avLst>
          </a:prstGeom>
          <a:solidFill>
            <a:srgbClr val="E6E2D6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5. Clima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12800" y="6238241"/>
            <a:ext cx="91567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Base: 852.674 ocorrências emergenciais com interrupção registrada, Neoenergia PE, 2021 a 2025. Fonte: ANEEL.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693400" y="6238241"/>
            <a:ext cx="685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9A58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PERGUNTA 1 · ONDE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02361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0" i="0" dirty="0">
                <a:solidFill>
                  <a:srgbClr val="14213D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Recife lidera em volume, mas não nos conjuntos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1919605"/>
            <a:ext cx="6584950" cy="3912870"/>
          </a:xfrm>
          <a:prstGeom prst="roundRect">
            <a:avLst>
              <a:gd name="adj" fmla="val 2353"/>
            </a:avLst>
          </a:prstGeom>
          <a:solidFill>
            <a:srgbClr val="ECE9E0"/>
          </a:solidFill>
          <a:ln w="19050">
            <a:solidFill>
              <a:srgbClr val="B4B9C4"/>
            </a:solidFill>
            <a:prstDash val="dash"/>
          </a:ln>
        </p:spPr>
        <p:txBody>
          <a:bodyPr wrap="square" lIns="283547" tIns="283547" rIns="283547" bIns="283547" rtlCol="0" anchor="ctr">
            <a:normAutofit/>
          </a:bodyPr>
          <a:lstStyle/>
          <a:p>
            <a:pPr marL="0" indent="0" algn="ctr">
              <a:lnSpc>
                <a:spcPts val="1960"/>
              </a:lnSpc>
              <a:buNone/>
            </a:pPr>
            <a:r>
              <a:rPr lang="en-US" sz="1400" dirty="0" err="1">
                <a:solidFill>
                  <a:srgbClr val="6B72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gráfico</a:t>
            </a:r>
            <a:r>
              <a:rPr lang="en-US" sz="1400" dirty="0">
                <a:solidFill>
                  <a:srgbClr val="6B72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de ocorrências </a:t>
            </a:r>
            <a:r>
              <a:rPr lang="en-US" sz="1400" dirty="0" err="1">
                <a:solidFill>
                  <a:srgbClr val="6B72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por</a:t>
            </a:r>
            <a:r>
              <a:rPr lang="en-US" sz="1400" dirty="0">
                <a:solidFill>
                  <a:srgbClr val="6B72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municipio e </a:t>
            </a:r>
            <a:r>
              <a:rPr lang="en-US" sz="1400" dirty="0" err="1">
                <a:solidFill>
                  <a:srgbClr val="6B72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gráfico</a:t>
            </a:r>
            <a:r>
              <a:rPr lang="en-US" sz="1400" dirty="0">
                <a:solidFill>
                  <a:srgbClr val="6B72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de </a:t>
            </a:r>
            <a:r>
              <a:rPr lang="en-US" sz="1400" dirty="0" err="1">
                <a:solidFill>
                  <a:srgbClr val="6B72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ocorrências</a:t>
            </a:r>
            <a:r>
              <a:rPr lang="en-US" sz="1400" dirty="0">
                <a:solidFill>
                  <a:srgbClr val="6B72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</a:t>
            </a:r>
            <a:r>
              <a:rPr lang="en-US" sz="1400" dirty="0" err="1">
                <a:solidFill>
                  <a:srgbClr val="6B72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por</a:t>
            </a:r>
            <a:r>
              <a:rPr lang="en-US" sz="1400" dirty="0">
                <a:solidFill>
                  <a:srgbClr val="6B72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conjuntos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835900" y="1910080"/>
            <a:ext cx="0" cy="3931920"/>
          </a:xfrm>
          <a:prstGeom prst="line">
            <a:avLst/>
          </a:prstGeom>
          <a:noFill/>
          <a:ln w="25400">
            <a:solidFill>
              <a:srgbClr val="F2A54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102600" y="2426970"/>
            <a:ext cx="3374898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dirty="0">
                <a:solidFill>
                  <a:srgbClr val="14213D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99.179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102600" y="2899411"/>
            <a:ext cx="3374898" cy="248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ocorrências em Recife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102600" y="3376295"/>
            <a:ext cx="3374898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dirty="0">
                <a:solidFill>
                  <a:srgbClr val="14213D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2,3×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8102600" y="3848736"/>
            <a:ext cx="3374898" cy="248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 volume de Jaboatão, o segundo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102600" y="4325620"/>
            <a:ext cx="3374898" cy="553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Lajedo, Vitória de Santo Antão e São Benedito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102600" y="4879341"/>
            <a:ext cx="3374898" cy="471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conjuntos com mais ocorrências, nenhum em Recife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12800" y="6238241"/>
            <a:ext cx="91567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Fonte: ANEEL. Ocorrências emergenciais com interrupção, Neoenergia PE, 2021 a 2025.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693400" y="6238241"/>
            <a:ext cx="685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9A58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PERGUNTA 2 · QUANDO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02361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0" i="0" dirty="0">
                <a:solidFill>
                  <a:srgbClr val="14213D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Março é o pico do ano. Setembro, o vale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22325" y="1919605"/>
            <a:ext cx="6584950" cy="3912870"/>
          </a:xfrm>
          <a:prstGeom prst="roundRect">
            <a:avLst>
              <a:gd name="adj" fmla="val 2353"/>
            </a:avLst>
          </a:prstGeom>
          <a:solidFill>
            <a:srgbClr val="ECE9E0"/>
          </a:solidFill>
          <a:ln w="19050">
            <a:solidFill>
              <a:srgbClr val="B4B9C4"/>
            </a:solidFill>
            <a:prstDash val="dash"/>
          </a:ln>
        </p:spPr>
        <p:txBody>
          <a:bodyPr wrap="square" lIns="283547" tIns="283547" rIns="283547" bIns="283547" rtlCol="0" anchor="ctr">
            <a:normAutofit/>
          </a:bodyPr>
          <a:lstStyle/>
          <a:p>
            <a:pPr marL="0" indent="0" algn="ctr">
              <a:lnSpc>
                <a:spcPts val="1960"/>
              </a:lnSpc>
              <a:buNone/>
            </a:pPr>
            <a:r>
              <a:rPr lang="en-US" sz="1400" dirty="0" err="1">
                <a:solidFill>
                  <a:srgbClr val="6B72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gráfico</a:t>
            </a:r>
            <a:r>
              <a:rPr lang="en-US" sz="1400" dirty="0">
                <a:solidFill>
                  <a:srgbClr val="6B72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de interrupções </a:t>
            </a:r>
            <a:r>
              <a:rPr lang="en-US" sz="1400" dirty="0" err="1">
                <a:solidFill>
                  <a:srgbClr val="6B72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por</a:t>
            </a:r>
            <a:r>
              <a:rPr lang="en-US" sz="1400" dirty="0">
                <a:solidFill>
                  <a:srgbClr val="6B72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</a:t>
            </a:r>
            <a:r>
              <a:rPr lang="en-US" sz="1400" dirty="0" err="1">
                <a:solidFill>
                  <a:srgbClr val="6B72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mês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835900" y="1910080"/>
            <a:ext cx="0" cy="3931920"/>
          </a:xfrm>
          <a:prstGeom prst="line">
            <a:avLst/>
          </a:prstGeom>
          <a:noFill/>
          <a:ln w="25400">
            <a:solidFill>
              <a:srgbClr val="F2A54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102600" y="2579053"/>
            <a:ext cx="3374898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dirty="0">
                <a:solidFill>
                  <a:srgbClr val="14213D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96.274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102600" y="3051493"/>
            <a:ext cx="3374898" cy="248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interrupções em março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102600" y="3528378"/>
            <a:ext cx="3374898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dirty="0">
                <a:solidFill>
                  <a:srgbClr val="14213D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74.908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8102600" y="4000818"/>
            <a:ext cx="3374898" cy="248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interrupções em setembro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102600" y="4477703"/>
            <a:ext cx="3374898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dirty="0">
                <a:solidFill>
                  <a:srgbClr val="14213D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+29%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8102600" y="4950143"/>
            <a:ext cx="3374898" cy="248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 março em relação a setembro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12800" y="6238239"/>
            <a:ext cx="91567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Fonte: ANEEL. Interrupções somadas por mês, Neoenergia PE, 2021 a 2025.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693400" y="6238239"/>
            <a:ext cx="685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9A58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PERGUNTA 2 · QUANDO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02361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0" i="0" dirty="0">
                <a:solidFill>
                  <a:srgbClr val="14213D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O pico do dia vai das 7h às 11h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22325" y="1919607"/>
            <a:ext cx="6584950" cy="3912870"/>
          </a:xfrm>
          <a:prstGeom prst="roundRect">
            <a:avLst>
              <a:gd name="adj" fmla="val 2353"/>
            </a:avLst>
          </a:prstGeom>
          <a:solidFill>
            <a:srgbClr val="ECE9E0"/>
          </a:solidFill>
          <a:ln w="19050">
            <a:solidFill>
              <a:srgbClr val="B4B9C4"/>
            </a:solidFill>
            <a:prstDash val="dash"/>
          </a:ln>
        </p:spPr>
        <p:txBody>
          <a:bodyPr wrap="square" lIns="283547" tIns="283547" rIns="283547" bIns="283547" rtlCol="0" anchor="ctr">
            <a:normAutofit/>
          </a:bodyPr>
          <a:lstStyle/>
          <a:p>
            <a:pPr marL="0" indent="0" algn="ctr">
              <a:lnSpc>
                <a:spcPts val="1960"/>
              </a:lnSpc>
              <a:buNone/>
            </a:pPr>
            <a:r>
              <a:rPr lang="en-US" sz="1400" dirty="0" err="1">
                <a:solidFill>
                  <a:srgbClr val="6B72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gráfico</a:t>
            </a:r>
            <a:r>
              <a:rPr lang="en-US" sz="1400" dirty="0">
                <a:solidFill>
                  <a:srgbClr val="6B72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de interrupções por hora do dia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835900" y="1910082"/>
            <a:ext cx="0" cy="3931920"/>
          </a:xfrm>
          <a:prstGeom prst="line">
            <a:avLst/>
          </a:prstGeom>
          <a:noFill/>
          <a:ln w="25400">
            <a:solidFill>
              <a:srgbClr val="F2A54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102600" y="2942273"/>
            <a:ext cx="3374898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dirty="0">
                <a:solidFill>
                  <a:srgbClr val="14213D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9h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102600" y="3414713"/>
            <a:ext cx="3374898" cy="248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horário com mais interrupções (101.682)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102600" y="3891598"/>
            <a:ext cx="3374898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dirty="0">
                <a:solidFill>
                  <a:srgbClr val="14213D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1/10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8102600" y="4364038"/>
            <a:ext cx="3374898" cy="471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é o volume da madrugada (2h a 4h) perto do pico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12800" y="6238239"/>
            <a:ext cx="91567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Fonte: ANEEL. Interrupções por hora de início, Neoenergia PE, 2021 a 2025.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693400" y="6238239"/>
            <a:ext cx="685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9A58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PERGUNTA 3 · POR QUÊ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02361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0" i="0" dirty="0">
                <a:solidFill>
                  <a:srgbClr val="14213D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A causa mais comum não é a que mais demora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22325" y="1919607"/>
            <a:ext cx="6584950" cy="3912870"/>
          </a:xfrm>
          <a:prstGeom prst="roundRect">
            <a:avLst>
              <a:gd name="adj" fmla="val 2353"/>
            </a:avLst>
          </a:prstGeom>
          <a:solidFill>
            <a:srgbClr val="ECE9E0"/>
          </a:solidFill>
          <a:ln w="19050">
            <a:solidFill>
              <a:srgbClr val="B4B9C4"/>
            </a:solidFill>
            <a:prstDash val="dash"/>
          </a:ln>
        </p:spPr>
        <p:txBody>
          <a:bodyPr wrap="square" lIns="283547" tIns="283547" rIns="283547" bIns="283547" rtlCol="0" anchor="ctr">
            <a:normAutofit/>
          </a:bodyPr>
          <a:lstStyle/>
          <a:p>
            <a:pPr marL="0" indent="0" algn="ctr">
              <a:lnSpc>
                <a:spcPts val="1960"/>
              </a:lnSpc>
              <a:buNone/>
            </a:pPr>
            <a:r>
              <a:rPr lang="en-US" sz="1400" dirty="0" err="1">
                <a:solidFill>
                  <a:srgbClr val="6B72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gráfico</a:t>
            </a:r>
            <a:r>
              <a:rPr lang="en-US" sz="1400" dirty="0">
                <a:solidFill>
                  <a:srgbClr val="6B72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: quantidade de ocorrências × tempo típico, por causa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835900" y="1910082"/>
            <a:ext cx="0" cy="3931920"/>
          </a:xfrm>
          <a:prstGeom prst="line">
            <a:avLst/>
          </a:prstGeom>
          <a:noFill/>
          <a:ln w="25400">
            <a:solidFill>
              <a:srgbClr val="F2A54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102600" y="2467611"/>
            <a:ext cx="3374898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dirty="0">
                <a:solidFill>
                  <a:srgbClr val="14213D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95%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102600" y="2940050"/>
            <a:ext cx="3374898" cy="471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em três grupos: própria rede 38%, meio ambiente 35%, terceiros 23%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102600" y="3639821"/>
            <a:ext cx="3374898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dirty="0">
                <a:solidFill>
                  <a:srgbClr val="14213D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32%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8102600" y="4112261"/>
            <a:ext cx="3374898" cy="248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são falha de material ou equipamento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102600" y="4589146"/>
            <a:ext cx="3374898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dirty="0">
                <a:solidFill>
                  <a:srgbClr val="14213D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32h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8102600" y="5061586"/>
            <a:ext cx="3374898" cy="248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é o atendimento típico em casos de erosão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12800" y="6238239"/>
            <a:ext cx="91567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Fonte: ANEEL. Ocorrências emergenciais com interrupção, Neoenergia PE, 2021 a 2025.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693400" y="6238239"/>
            <a:ext cx="685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9A58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PERGUNTA 4 · QUANTO TEMPO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02361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0" i="0" dirty="0">
                <a:solidFill>
                  <a:srgbClr val="14213D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Atendimento típico: 4h30. Metade do tempo é preparo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1859282"/>
            <a:ext cx="5283200" cy="762000"/>
          </a:xfrm>
          <a:custGeom>
            <a:avLst/>
            <a:gdLst/>
            <a:ahLst/>
            <a:cxnLst/>
            <a:rect l="l" t="t" r="r" b="b"/>
            <a:pathLst>
              <a:path w="5283200" h="762000">
                <a:moveTo>
                  <a:pt x="0" y="76200"/>
                </a:moveTo>
                <a:arcTo wR="76200" hR="76200" stAng="10800000" swAng="5400000"/>
                <a:lnTo>
                  <a:pt x="5283200" y="0"/>
                </a:lnTo>
                <a:lnTo>
                  <a:pt x="5283200" y="762000"/>
                </a:lnTo>
                <a:lnTo>
                  <a:pt x="76200" y="762000"/>
                </a:lnTo>
                <a:arcTo wR="76200" hR="76200" stAng="5400000" swAng="5400000"/>
                <a:close/>
              </a:path>
            </a:pathLst>
          </a:custGeom>
          <a:solidFill>
            <a:srgbClr val="F2A541"/>
          </a:solidFill>
          <a:ln/>
        </p:spPr>
        <p:txBody>
          <a:bodyPr wrap="square" lIns="203200" tIns="0" rIns="203200" bIns="0" rtlCol="0" anchor="ctr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Preparo 50%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096000" y="1859282"/>
            <a:ext cx="682784" cy="762000"/>
          </a:xfrm>
          <a:prstGeom prst="rect">
            <a:avLst/>
          </a:prstGeom>
          <a:solidFill>
            <a:srgbClr val="7C8DB0"/>
          </a:solidFill>
          <a:ln/>
        </p:spPr>
      </p:sp>
      <p:sp>
        <p:nvSpPr>
          <p:cNvPr id="6" name="Text 4"/>
          <p:cNvSpPr/>
          <p:nvPr/>
        </p:nvSpPr>
        <p:spPr>
          <a:xfrm>
            <a:off x="6778784" y="1859282"/>
            <a:ext cx="4600416" cy="762000"/>
          </a:xfrm>
          <a:custGeom>
            <a:avLst/>
            <a:gdLst/>
            <a:ahLst/>
            <a:cxnLst/>
            <a:rect l="l" t="t" r="r" b="b"/>
            <a:pathLst>
              <a:path w="4600416" h="762000">
                <a:moveTo>
                  <a:pt x="4524216" y="0"/>
                </a:moveTo>
                <a:arcTo wR="76200" hR="76200" stAng="16200000" swAng="5400000"/>
                <a:lnTo>
                  <a:pt x="4600416" y="685800"/>
                </a:lnTo>
                <a:arcTo wR="76200" hR="76200" stAng="0" swAng="5400000"/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solidFill>
            <a:srgbClr val="14213D"/>
          </a:solidFill>
          <a:ln/>
        </p:spPr>
        <p:txBody>
          <a:bodyPr wrap="square" lIns="203200" tIns="0" rIns="203200" bIns="0" rtlCol="0" anchor="ctr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6F4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Execução 43%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12800" y="2697482"/>
            <a:ext cx="1631728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Deslocamento 7%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15975" y="3185796"/>
            <a:ext cx="3380264" cy="1412875"/>
          </a:xfrm>
          <a:prstGeom prst="roundRect">
            <a:avLst>
              <a:gd name="adj" fmla="val 6966"/>
            </a:avLst>
          </a:prstGeom>
          <a:solidFill>
            <a:srgbClr val="FDFCF8"/>
          </a:solidFill>
          <a:ln w="6350">
            <a:solidFill>
              <a:srgbClr val="E2DED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21080" y="3390900"/>
            <a:ext cx="3059155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9A58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Preparo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21080" y="3672839"/>
            <a:ext cx="3059155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dirty="0">
                <a:solidFill>
                  <a:srgbClr val="14213D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2h05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1021080" y="4170682"/>
            <a:ext cx="3059155" cy="248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do chamado até a equipe ser liberada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405789" y="3185796"/>
            <a:ext cx="3380343" cy="1412875"/>
          </a:xfrm>
          <a:prstGeom prst="roundRect">
            <a:avLst>
              <a:gd name="adj" fmla="val 6966"/>
            </a:avLst>
          </a:prstGeom>
          <a:solidFill>
            <a:srgbClr val="FDFCF8"/>
          </a:solidFill>
          <a:ln w="6350">
            <a:solidFill>
              <a:srgbClr val="E2DED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10894" y="3390900"/>
            <a:ext cx="3059237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9A58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Deslocamento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610894" y="3672839"/>
            <a:ext cx="3059237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dirty="0">
                <a:solidFill>
                  <a:srgbClr val="14213D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34 min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4610894" y="4170682"/>
            <a:ext cx="3059237" cy="248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até a equipe chegar ao local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995682" y="3185796"/>
            <a:ext cx="3380343" cy="1412875"/>
          </a:xfrm>
          <a:prstGeom prst="roundRect">
            <a:avLst>
              <a:gd name="adj" fmla="val 6966"/>
            </a:avLst>
          </a:prstGeom>
          <a:solidFill>
            <a:srgbClr val="FDFCF8"/>
          </a:solidFill>
          <a:ln w="6350">
            <a:solidFill>
              <a:srgbClr val="E2DED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00787" y="3390900"/>
            <a:ext cx="3059237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9A58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Execução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200787" y="3672839"/>
            <a:ext cx="3059237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dirty="0">
                <a:solidFill>
                  <a:srgbClr val="14213D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47 min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8200787" y="4170682"/>
            <a:ext cx="3059237" cy="248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até a energia voltar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12800" y="4855846"/>
            <a:ext cx="1088339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 preparo típico subiu de 1h54 em 2021 para 2h14 em 2025.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12800" y="6238239"/>
            <a:ext cx="91567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Barra: parcela de cada etapa no tempo total. Cartões: mediana. Fonte: ANEEL, 2021 a 2025.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693400" y="6238239"/>
            <a:ext cx="685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9A58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PERGUNTA 4 · QUANTO TEMPO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02361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0" i="0" dirty="0">
                <a:solidFill>
                  <a:srgbClr val="14213D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Onde mais acontece não é onde mais demora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22325" y="1919607"/>
            <a:ext cx="6584950" cy="3912870"/>
          </a:xfrm>
          <a:prstGeom prst="roundRect">
            <a:avLst>
              <a:gd name="adj" fmla="val 2353"/>
            </a:avLst>
          </a:prstGeom>
          <a:solidFill>
            <a:srgbClr val="ECE9E0"/>
          </a:solidFill>
          <a:ln w="19050">
            <a:solidFill>
              <a:srgbClr val="B4B9C4"/>
            </a:solidFill>
            <a:prstDash val="dash"/>
          </a:ln>
        </p:spPr>
        <p:txBody>
          <a:bodyPr wrap="square" lIns="283547" tIns="283547" rIns="283547" bIns="283547" rtlCol="0" anchor="ctr">
            <a:normAutofit/>
          </a:bodyPr>
          <a:lstStyle/>
          <a:p>
            <a:pPr marL="0" indent="0" algn="ctr">
              <a:lnSpc>
                <a:spcPts val="1960"/>
              </a:lnSpc>
              <a:buNone/>
            </a:pPr>
            <a:r>
              <a:rPr lang="en-US" sz="1400" dirty="0" err="1">
                <a:solidFill>
                  <a:srgbClr val="6B72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Gráfico</a:t>
            </a:r>
            <a:r>
              <a:rPr lang="en-US" sz="1400" dirty="0">
                <a:solidFill>
                  <a:srgbClr val="6B72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dos municípios com maior tempo típico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835900" y="1910082"/>
            <a:ext cx="0" cy="3931920"/>
          </a:xfrm>
          <a:prstGeom prst="line">
            <a:avLst/>
          </a:prstGeom>
          <a:noFill/>
          <a:ln w="25400">
            <a:solidFill>
              <a:srgbClr val="F2A54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102600" y="2340611"/>
            <a:ext cx="3374898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dirty="0">
                <a:solidFill>
                  <a:srgbClr val="14213D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8h38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102600" y="2813050"/>
            <a:ext cx="3374898" cy="248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Arcoverde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102600" y="3289936"/>
            <a:ext cx="3374898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dirty="0">
                <a:solidFill>
                  <a:srgbClr val="14213D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8h08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8102600" y="3762375"/>
            <a:ext cx="3374898" cy="248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Santa Filomena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102600" y="4239264"/>
            <a:ext cx="3374898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dirty="0">
                <a:solidFill>
                  <a:srgbClr val="6B728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4h34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8102600" y="4711700"/>
            <a:ext cx="3374898" cy="248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Pernambuco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102600" y="5188589"/>
            <a:ext cx="3374898" cy="248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Recife fica fora dos 20 piores.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12800" y="6238242"/>
            <a:ext cx="91567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Tempo típico (mediana) do atendimento completo. Fonte: ANEEL, 2021 a 2025.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693400" y="6238242"/>
            <a:ext cx="685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9A58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PERGUNTA 5 · CLIMA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02364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0" i="0" dirty="0">
                <a:solidFill>
                  <a:srgbClr val="14213D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Nos dias de ocorrência climática, chove quase o dobro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2275204"/>
            <a:ext cx="3093738" cy="695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280"/>
              </a:lnSpc>
              <a:buNone/>
            </a:pPr>
            <a:r>
              <a:rPr lang="en-US" sz="4800" dirty="0">
                <a:solidFill>
                  <a:srgbClr val="9A580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3,4 mm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812800" y="2971167"/>
            <a:ext cx="3093738" cy="471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chuva média nos dias com ocorrência climática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172029" y="2275204"/>
            <a:ext cx="1517571" cy="136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280"/>
              </a:lnSpc>
              <a:buNone/>
            </a:pPr>
            <a:r>
              <a:rPr lang="en-US" sz="4800" dirty="0">
                <a:solidFill>
                  <a:srgbClr val="6B728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1,8 mm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4172029" y="3641725"/>
            <a:ext cx="1517571" cy="471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média de todos os dias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12800" y="4341496"/>
            <a:ext cx="4970780" cy="50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 vento quase não muda: rajada média de 9,6 m/s contra 9,7 m/s.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12800" y="5075554"/>
            <a:ext cx="1934051" cy="401320"/>
          </a:xfrm>
          <a:prstGeom prst="roundRect">
            <a:avLst>
              <a:gd name="adj" fmla="val 50000"/>
            </a:avLst>
          </a:prstGeom>
          <a:solidFill>
            <a:srgbClr val="14213D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6F4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Relação, não causa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054725" y="1919604"/>
            <a:ext cx="5314950" cy="3912870"/>
          </a:xfrm>
          <a:prstGeom prst="roundRect">
            <a:avLst>
              <a:gd name="adj" fmla="val 2353"/>
            </a:avLst>
          </a:prstGeom>
          <a:solidFill>
            <a:srgbClr val="ECE9E0"/>
          </a:solidFill>
          <a:ln w="19050">
            <a:solidFill>
              <a:srgbClr val="B4B9C4"/>
            </a:solidFill>
            <a:prstDash val="dash"/>
          </a:ln>
        </p:spPr>
        <p:txBody>
          <a:bodyPr wrap="square" lIns="283547" tIns="283547" rIns="283547" bIns="283547" rtlCol="0" anchor="ctr">
            <a:normAutofit/>
          </a:bodyPr>
          <a:lstStyle/>
          <a:p>
            <a:pPr marL="0" indent="0" algn="ctr">
              <a:lnSpc>
                <a:spcPts val="1960"/>
              </a:lnSpc>
              <a:buNone/>
            </a:pPr>
            <a:r>
              <a:rPr lang="en-US" sz="1400" dirty="0" err="1">
                <a:solidFill>
                  <a:srgbClr val="6B72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gráfico</a:t>
            </a:r>
            <a:r>
              <a:rPr lang="en-US" sz="1400" dirty="0">
                <a:solidFill>
                  <a:srgbClr val="6B72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de ocorrências climáticas por mês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12800" y="6238242"/>
            <a:ext cx="91567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Fontes: ANEEL e INMET, 2021 a 2025. 69% das ocorrências climáticas cruzadas com estação a até 50 km.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693400" y="6238242"/>
            <a:ext cx="685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9A58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SOLUÇÃO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325" y="1289689"/>
            <a:ext cx="6965950" cy="4542790"/>
          </a:xfrm>
          <a:prstGeom prst="roundRect">
            <a:avLst>
              <a:gd name="adj" fmla="val 2027"/>
            </a:avLst>
          </a:prstGeom>
          <a:solidFill>
            <a:srgbClr val="ECE9E0"/>
          </a:solidFill>
          <a:ln w="19050">
            <a:solidFill>
              <a:srgbClr val="B4B9C4"/>
            </a:solidFill>
            <a:prstDash val="dash"/>
          </a:ln>
        </p:spPr>
        <p:txBody>
          <a:bodyPr wrap="square" lIns="283547" tIns="283547" rIns="283547" bIns="283547" rtlCol="0" anchor="ctr">
            <a:normAutofit/>
          </a:bodyPr>
          <a:lstStyle/>
          <a:p>
            <a:pPr marL="0" indent="0" algn="ctr">
              <a:lnSpc>
                <a:spcPts val="1960"/>
              </a:lnSpc>
              <a:buNone/>
            </a:pPr>
            <a:r>
              <a:rPr lang="en-US" sz="1400" dirty="0" err="1">
                <a:solidFill>
                  <a:srgbClr val="6B72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Painel</a:t>
            </a:r>
            <a:r>
              <a:rPr lang="en-US" sz="1400" dirty="0">
                <a:solidFill>
                  <a:srgbClr val="6B72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do looker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04200" y="2524764"/>
            <a:ext cx="327025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kern="0" spc="100" dirty="0">
                <a:solidFill>
                  <a:srgbClr val="9A58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UM OLHAR SOBRE O TODO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04200" y="2857500"/>
            <a:ext cx="327025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1. Onde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04200" y="3225800"/>
            <a:ext cx="327025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2. Quando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04200" y="3594100"/>
            <a:ext cx="327025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3. Por quê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04200" y="3962400"/>
            <a:ext cx="327025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4. Quanto tempo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04200" y="4330700"/>
            <a:ext cx="327025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5. Clima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693400" y="6238242"/>
            <a:ext cx="685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9A58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 QUE FAZER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02364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0" i="0" dirty="0">
                <a:solidFill>
                  <a:srgbClr val="14213D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O histórico aponta onde prevenir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2800" y="1913254"/>
            <a:ext cx="10566400" cy="0"/>
          </a:xfrm>
          <a:prstGeom prst="line">
            <a:avLst/>
          </a:prstGeom>
          <a:noFill/>
          <a:ln w="6350">
            <a:solidFill>
              <a:srgbClr val="D9D4C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12800" y="2062479"/>
            <a:ext cx="196215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9A58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Onde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022600" y="2054864"/>
            <a:ext cx="7642955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8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Inspeção e manutenção primeiro nos conjuntos com mais ocorrências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12800" y="2461896"/>
            <a:ext cx="10566400" cy="0"/>
          </a:xfrm>
          <a:prstGeom prst="line">
            <a:avLst/>
          </a:prstGeom>
          <a:noFill/>
          <a:ln w="6350">
            <a:solidFill>
              <a:srgbClr val="D9D4C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12800" y="2611121"/>
            <a:ext cx="196215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9A58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Quando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022600" y="2603500"/>
            <a:ext cx="8295037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8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Preventiva no vale de setembro; escala reforçada em março e das 7h às 11h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12800" y="3010539"/>
            <a:ext cx="10566400" cy="0"/>
          </a:xfrm>
          <a:prstGeom prst="line">
            <a:avLst/>
          </a:prstGeom>
          <a:noFill/>
          <a:ln w="6350">
            <a:solidFill>
              <a:srgbClr val="D9D4C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2800" y="3159764"/>
            <a:ext cx="196215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9A58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Por quê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022600" y="3152142"/>
            <a:ext cx="7224046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8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Inspeção de equipamentos e poda de vegetação antes do </a:t>
            </a:r>
            <a:r>
              <a:rPr lang="pt-BR" sz="16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mês</a:t>
            </a:r>
            <a:r>
              <a:rPr lang="en-US" sz="16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de </a:t>
            </a:r>
            <a:r>
              <a:rPr lang="pt-BR" sz="160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maio</a:t>
            </a:r>
            <a:endParaRPr lang="pt-BR" sz="1600"/>
          </a:p>
        </p:txBody>
      </p:sp>
      <p:sp>
        <p:nvSpPr>
          <p:cNvPr id="13" name="Shape 11"/>
          <p:cNvSpPr/>
          <p:nvPr/>
        </p:nvSpPr>
        <p:spPr>
          <a:xfrm>
            <a:off x="812800" y="3559175"/>
            <a:ext cx="10566400" cy="0"/>
          </a:xfrm>
          <a:prstGeom prst="line">
            <a:avLst/>
          </a:prstGeom>
          <a:noFill/>
          <a:ln w="6350">
            <a:solidFill>
              <a:srgbClr val="D9D4C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2800" y="3708400"/>
            <a:ext cx="196215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9A58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Quanto tempo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022600" y="3700779"/>
            <a:ext cx="6838093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8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Equipes de prontidão onde o preparo e o deslocamento pesam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12800" y="4107817"/>
            <a:ext cx="10566400" cy="0"/>
          </a:xfrm>
          <a:prstGeom prst="line">
            <a:avLst/>
          </a:prstGeom>
          <a:noFill/>
          <a:ln w="6350">
            <a:solidFill>
              <a:srgbClr val="D9D4C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2800" y="4655188"/>
            <a:ext cx="10566400" cy="0"/>
          </a:xfrm>
          <a:prstGeom prst="line">
            <a:avLst/>
          </a:prstGeom>
          <a:noFill/>
          <a:ln w="6350">
            <a:solidFill>
              <a:srgbClr val="D9D4C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12800" y="4257042"/>
            <a:ext cx="196215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9A58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Clima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022600" y="4249421"/>
            <a:ext cx="5252085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8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Plano para chuva pronto antes do pico de março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12800" y="6238242"/>
            <a:ext cx="91567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Sugestões tiradas do diagnóstico histórico, ainda não testadas na operação.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693400" y="6238242"/>
            <a:ext cx="685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11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50921" y="2189956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F2A54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BÚSSOLA DE CRISE</a:t>
            </a:r>
            <a:endParaRPr lang="en-US" sz="1200" dirty="0"/>
          </a:p>
        </p:txBody>
      </p:sp>
      <p:pic>
        <p:nvPicPr>
          <p:cNvPr id="3" name="Image 0" descr="line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12800" y="4400550"/>
            <a:ext cx="762000" cy="381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51000" y="2403320"/>
            <a:ext cx="9156700" cy="1427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520"/>
              </a:lnSpc>
              <a:buNone/>
            </a:pPr>
            <a:r>
              <a:rPr lang="en-US" sz="4800" dirty="0">
                <a:solidFill>
                  <a:srgbClr val="F6F4EE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Não prevê a próxima crise. </a:t>
            </a:r>
            <a:r>
              <a:rPr lang="en-US" sz="4800" dirty="0">
                <a:solidFill>
                  <a:srgbClr val="F2A541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Mostra onde agir antes.</a:t>
            </a:r>
            <a:endParaRPr lang="en-US" sz="4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itch Bússola de Crise">
  <a:themeElements>
    <a:clrScheme name="Pitch Bússola de Crise">
      <a:dk1>
        <a:srgbClr val="14213D"/>
      </a:dk1>
      <a:lt1>
        <a:srgbClr val="F6F4EE"/>
      </a:lt1>
      <a:dk2>
        <a:srgbClr val="4D5669"/>
      </a:dk2>
      <a:lt2>
        <a:srgbClr val="DFDFDC"/>
      </a:lt2>
      <a:accent1>
        <a:srgbClr val="9A5800"/>
      </a:accent1>
      <a:accent2>
        <a:srgbClr val="F2A541"/>
      </a:accent2>
      <a:accent3>
        <a:srgbClr val="7C8DB0"/>
      </a:accent3>
      <a:accent4>
        <a:srgbClr val="6B7280"/>
      </a:accent4>
      <a:accent5>
        <a:srgbClr val="4A5568"/>
      </a:accent5>
      <a:accent6>
        <a:srgbClr val="C9D3E0"/>
      </a:accent6>
      <a:hlink>
        <a:srgbClr val="0563C1"/>
      </a:hlink>
      <a:folHlink>
        <a:srgbClr val="954F72"/>
      </a:folHlink>
    </a:clrScheme>
    <a:fontScheme name="Pitch Bússola de Crise">
      <a:majorFont>
        <a:latin typeface="Oswal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BM Plex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2013</Words>
  <Application>Microsoft Office PowerPoint</Application>
  <PresentationFormat>Widescreen</PresentationFormat>
  <Paragraphs>148</Paragraphs>
  <Slides>12</Slides>
  <Notes>12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12</vt:i4>
      </vt:variant>
    </vt:vector>
  </HeadingPairs>
  <TitlesOfParts>
    <vt:vector size="16" baseType="lpstr">
      <vt:lpstr>Arial</vt:lpstr>
      <vt:lpstr>IBM Plex Sans</vt:lpstr>
      <vt:lpstr>Oswald</vt:lpstr>
      <vt:lpstr>Pitch Bússola de Crise</vt:lpstr>
      <vt:lpstr>Bússola de Crise</vt:lpstr>
      <vt:lpstr>Na crise, a decisão é tomada sem o histórico</vt:lpstr>
      <vt:lpstr>Recife lidera em volume, mas não nos conjuntos</vt:lpstr>
      <vt:lpstr>Março é o pico do ano. Setembro, o vale</vt:lpstr>
      <vt:lpstr>O pico do dia vai das 7h às 11h</vt:lpstr>
      <vt:lpstr>A causa mais comum não é a que mais demora</vt:lpstr>
      <vt:lpstr>Atendimento típico: 4h30. Metade do tempo é preparo</vt:lpstr>
      <vt:lpstr>Onde mais acontece não é onde mais demora</vt:lpstr>
      <vt:lpstr>Nos dias de ocorrência climática, chove quase o dobro</vt:lpstr>
      <vt:lpstr>Apresentação do PowerPoint</vt:lpstr>
      <vt:lpstr>O histórico aponta onde prevenir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Pitch Bússola de Crise</dc:title>
  <dc:subject/>
  <dc:creator/>
  <cp:lastModifiedBy>Cauê Alexandrino</cp:lastModifiedBy>
  <cp:revision>6</cp:revision>
  <dcterms:created xsi:type="dcterms:W3CDTF">2026-10-01T23:53:44Z</dcterms:created>
  <dcterms:modified xsi:type="dcterms:W3CDTF">2026-10-02T00:30:59Z</dcterms:modified>
</cp:coreProperties>
</file>